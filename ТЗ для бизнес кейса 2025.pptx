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6" r:id="rId3"/>
    <p:sldId id="286" r:id="rId4"/>
    <p:sldId id="287" r:id="rId5"/>
    <p:sldId id="288" r:id="rId6"/>
    <p:sldId id="28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1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45CBA-1F57-43FA-9F78-F8A48C42B677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7CDFB-C6C5-4DC5-B233-E3108E6F3B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4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8DB5D4-7C48-4160-9D75-937A9C6AD2E7}" type="slidenum">
              <a:rPr lang="de-DE"/>
              <a:pPr/>
              <a:t>1</a:t>
            </a:fld>
            <a:endParaRPr lang="de-DE"/>
          </a:p>
        </p:txBody>
      </p:sp>
      <p:sp>
        <p:nvSpPr>
          <p:cNvPr id="294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616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AD635-EAC5-440C-9E58-57808AB0A400}" type="slidenum">
              <a:rPr lang="de-DE"/>
              <a:pPr/>
              <a:t>2</a:t>
            </a:fld>
            <a:endParaRPr lang="de-DE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462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AD635-EAC5-440C-9E58-57808AB0A400}" type="slidenum">
              <a:rPr lang="de-DE"/>
              <a:pPr/>
              <a:t>3</a:t>
            </a:fld>
            <a:endParaRPr lang="de-DE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865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AD635-EAC5-440C-9E58-57808AB0A400}" type="slidenum">
              <a:rPr lang="de-DE"/>
              <a:pPr/>
              <a:t>4</a:t>
            </a:fld>
            <a:endParaRPr lang="de-DE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698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8AD635-EAC5-440C-9E58-57808AB0A400}" type="slidenum">
              <a:rPr lang="de-DE"/>
              <a:pPr/>
              <a:t>5</a:t>
            </a:fld>
            <a:endParaRPr lang="de-DE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54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764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53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42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948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076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736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12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960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52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38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171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242" y="1521416"/>
            <a:ext cx="10359285" cy="2285294"/>
          </a:xfrm>
        </p:spPr>
        <p:txBody>
          <a:bodyPr anchor="t"/>
          <a:lstStyle>
            <a:lvl1pPr>
              <a:lnSpc>
                <a:spcPct val="135000"/>
              </a:lnSpc>
              <a:defRPr sz="2932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242" y="4145271"/>
            <a:ext cx="10359285" cy="914118"/>
          </a:xfrm>
        </p:spPr>
        <p:txBody>
          <a:bodyPr/>
          <a:lstStyle>
            <a:lvl1pPr>
              <a:defRPr sz="2133"/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pic>
        <p:nvPicPr>
          <p:cNvPr id="4107" name="Picture 11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8181614" y="5804227"/>
            <a:ext cx="4010388" cy="7152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465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14FA6E7-23C3-4C80-A115-94BCAA5AFE45}" type="datetime1">
              <a:rPr lang="de-DE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3660CD-3B46-43A6-9314-4EE931B7A3E0}" type="slidenum">
              <a:rPr lang="de-DE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8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9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10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96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108C09-C7E8-4706-BFCD-D578CC11888C}" type="datetime1">
              <a:rPr lang="de-DE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DD70D43-F2F3-499E-9799-9D8F4F5AC128}" type="slidenum">
              <a:rPr lang="de-DE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7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9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75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7FB4452-69C0-4952-9F55-1E368DAC5E7D}" type="datetime1">
              <a:rPr lang="de-DE">
                <a:solidFill>
                  <a:srgbClr val="000000"/>
                </a:solidFill>
              </a:rPr>
              <a:pPr/>
              <a:t>05.03.2026</a:t>
            </a:fld>
            <a:endParaRPr lang="de-DE" dirty="0">
              <a:solidFill>
                <a:srgbClr val="000000"/>
              </a:solidFill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973A2B-DB81-44B3-B146-221B8F8F5BF9}" type="slidenum">
              <a:rPr lang="de-DE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539657" y="198906"/>
            <a:ext cx="11114803" cy="592484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9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08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3E7DF-17D5-4A1E-939D-ADA82454230C}" type="datetime1">
              <a:rPr lang="de-DE" smtClean="0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1034E0-0C6B-4F30-A591-3D8EE1AD5DF8}" type="slidenum">
              <a:rPr lang="de-DE" smtClean="0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9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16827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657" y="198906"/>
            <a:ext cx="11114803" cy="592484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539657" y="1125719"/>
            <a:ext cx="11114803" cy="5019184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7731" y="6483465"/>
            <a:ext cx="1003126" cy="97337"/>
          </a:xfrm>
        </p:spPr>
        <p:txBody>
          <a:bodyPr/>
          <a:lstStyle>
            <a:lvl1pPr>
              <a:defRPr/>
            </a:lvl1pPr>
          </a:lstStyle>
          <a:p>
            <a:fld id="{077139B5-F6A0-4E12-B5A7-85C686C7E116}" type="datetime1">
              <a:rPr lang="de-DE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39658" y="6483465"/>
            <a:ext cx="311095" cy="97337"/>
          </a:xfrm>
        </p:spPr>
        <p:txBody>
          <a:bodyPr/>
          <a:lstStyle>
            <a:lvl1pPr>
              <a:defRPr/>
            </a:lvl1pPr>
          </a:lstStyle>
          <a:p>
            <a:fld id="{539731D2-D92A-4E09-9662-01E338E8419E}" type="slidenum">
              <a:rPr lang="de-DE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7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9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10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5533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 preserve="1">
  <p:cSld name="Заголовок и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657" y="198906"/>
            <a:ext cx="11114803" cy="592484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иаграмма 2"/>
          <p:cNvSpPr>
            <a:spLocks noGrp="1"/>
          </p:cNvSpPr>
          <p:nvPr>
            <p:ph type="chart" idx="1"/>
          </p:nvPr>
        </p:nvSpPr>
        <p:spPr>
          <a:xfrm>
            <a:off x="539657" y="1125719"/>
            <a:ext cx="11114803" cy="5019184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7731" y="6483465"/>
            <a:ext cx="1003126" cy="97337"/>
          </a:xfrm>
        </p:spPr>
        <p:txBody>
          <a:bodyPr/>
          <a:lstStyle>
            <a:lvl1pPr>
              <a:defRPr/>
            </a:lvl1pPr>
          </a:lstStyle>
          <a:p>
            <a:fld id="{49D2977A-1BDE-4FE8-A8E6-134413F28BB8}" type="datetime1">
              <a:rPr lang="de-DE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39658" y="6483465"/>
            <a:ext cx="311095" cy="97337"/>
          </a:xfrm>
        </p:spPr>
        <p:txBody>
          <a:bodyPr/>
          <a:lstStyle>
            <a:lvl1pPr>
              <a:defRPr/>
            </a:lvl1pPr>
          </a:lstStyle>
          <a:p>
            <a:fld id="{6A7E2082-3907-4006-ADAA-1F3AA64CE1A5}" type="slidenum">
              <a:rPr lang="de-DE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7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9" name="Picture 14" descr="Claas_Logo_neu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10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661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3E7DF-17D5-4A1E-939D-ADA82454230C}" type="datetime1">
              <a:rPr lang="de-DE" smtClean="0">
                <a:solidFill>
                  <a:srgbClr val="000000"/>
                </a:solidFill>
              </a:rPr>
              <a:pPr/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1034E0-0C6B-4F30-A591-3D8EE1AD5DF8}" type="slidenum">
              <a:rPr lang="de-DE" smtClean="0">
                <a:solidFill>
                  <a:srgbClr val="000000"/>
                </a:solidFill>
              </a:rPr>
              <a:pPr/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9660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98B66-2283-4038-BD80-D9AE779260D3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656A5-B500-4E13-B1C6-053FD06E45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36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39657" y="198906"/>
            <a:ext cx="11114803" cy="592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539657" y="1125719"/>
            <a:ext cx="11114803" cy="501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977731" y="6483465"/>
            <a:ext cx="1003126" cy="9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933"/>
            </a:lvl1pPr>
          </a:lstStyle>
          <a:p>
            <a:pPr fontAlgn="base">
              <a:spcAft>
                <a:spcPct val="0"/>
              </a:spcAft>
            </a:pPr>
            <a:fld id="{EF33E7DF-17D5-4A1E-939D-ADA82454230C}" type="datetime1">
              <a:rPr lang="de-DE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05.03.2026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539658" y="6483465"/>
            <a:ext cx="311095" cy="9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933"/>
            </a:lvl1pPr>
          </a:lstStyle>
          <a:p>
            <a:pPr fontAlgn="base">
              <a:spcAft>
                <a:spcPct val="0"/>
              </a:spcAft>
            </a:pPr>
            <a:fld id="{501034E0-0C6B-4F30-A591-3D8EE1AD5DF8}" type="slidenum">
              <a:rPr lang="de-DE">
                <a:solidFill>
                  <a:srgbClr val="000000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1032" name="Line 8"/>
          <p:cNvSpPr>
            <a:spLocks noChangeShapeType="1"/>
          </p:cNvSpPr>
          <p:nvPr userDrawn="1"/>
        </p:nvSpPr>
        <p:spPr bwMode="gray">
          <a:xfrm>
            <a:off x="848637" y="6466537"/>
            <a:ext cx="0" cy="13331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lIns="121870" tIns="60935" rIns="121870" bIns="60935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pic>
        <p:nvPicPr>
          <p:cNvPr id="1038" name="Picture 14" descr="Claas_Logo_neu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gray">
          <a:xfrm>
            <a:off x="10065119" y="6320532"/>
            <a:ext cx="2124764" cy="378766"/>
          </a:xfrm>
          <a:prstGeom prst="rect">
            <a:avLst/>
          </a:prstGeom>
          <a:noFill/>
        </p:spPr>
      </p:pic>
      <p:sp>
        <p:nvSpPr>
          <p:cNvPr id="1039" name="Line 15"/>
          <p:cNvSpPr>
            <a:spLocks noChangeShapeType="1"/>
          </p:cNvSpPr>
          <p:nvPr userDrawn="1"/>
        </p:nvSpPr>
        <p:spPr bwMode="gray">
          <a:xfrm>
            <a:off x="2117" y="958555"/>
            <a:ext cx="1218988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lIns="121870" tIns="60935" rIns="121870" bIns="60935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endParaRPr lang="ru-RU" sz="2133">
              <a:solidFill>
                <a:srgbClr val="000000"/>
              </a:solidFill>
            </a:endParaRPr>
          </a:p>
        </p:txBody>
      </p:sp>
      <p:sp>
        <p:nvSpPr>
          <p:cNvPr id="1042" name="Footer Placeholder 3"/>
          <p:cNvSpPr txBox="1">
            <a:spLocks noGrp="1"/>
          </p:cNvSpPr>
          <p:nvPr userDrawn="1"/>
        </p:nvSpPr>
        <p:spPr bwMode="gray">
          <a:xfrm>
            <a:off x="2171323" y="6464424"/>
            <a:ext cx="5157422" cy="129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933" dirty="0">
                <a:solidFill>
                  <a:srgbClr val="000000"/>
                </a:solidFill>
              </a:rPr>
              <a:t>Название презентации</a:t>
            </a:r>
            <a:endParaRPr lang="en-GB" sz="933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354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5pPr>
      <a:lvl6pPr marL="609341"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6pPr>
      <a:lvl7pPr marL="1218682"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7pPr>
      <a:lvl8pPr marL="1828023"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8pPr>
      <a:lvl9pPr marL="2437364" algn="l" rtl="0" fontAlgn="base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  <a:cs typeface="Arial" charset="0"/>
        </a:defRPr>
      </a:lvl9pPr>
    </p:titleStyle>
    <p:bodyStyle>
      <a:lvl1pPr algn="l" rtl="0" fontAlgn="base">
        <a:spcBef>
          <a:spcPct val="20000"/>
        </a:spcBef>
        <a:spcAft>
          <a:spcPts val="1066"/>
        </a:spcAft>
        <a:defRPr sz="1866">
          <a:solidFill>
            <a:schemeClr val="tx1"/>
          </a:solidFill>
          <a:latin typeface="+mn-lt"/>
          <a:ea typeface="+mn-ea"/>
          <a:cs typeface="+mn-cs"/>
        </a:defRPr>
      </a:lvl1pPr>
      <a:lvl2pPr marL="277167" indent="-275049" algn="l" rtl="0" fontAlgn="base">
        <a:spcBef>
          <a:spcPct val="20000"/>
        </a:spcBef>
        <a:spcAft>
          <a:spcPts val="1066"/>
        </a:spcAft>
        <a:buClr>
          <a:srgbClr val="999999"/>
        </a:buClr>
        <a:buFont typeface="Wingdings" pitchFamily="-112" charset="2"/>
        <a:buChar char="§"/>
        <a:defRPr sz="1866">
          <a:solidFill>
            <a:schemeClr val="tx1"/>
          </a:solidFill>
          <a:latin typeface="+mn-lt"/>
          <a:cs typeface="+mn-cs"/>
        </a:defRPr>
      </a:lvl2pPr>
      <a:lvl3pPr marL="598763" indent="-319481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866">
          <a:solidFill>
            <a:schemeClr val="tx1"/>
          </a:solidFill>
          <a:latin typeface="+mn-lt"/>
          <a:cs typeface="+mn-cs"/>
        </a:defRPr>
      </a:lvl3pPr>
      <a:lvl4pPr marL="867465" indent="-266587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4pPr>
      <a:lvl5pPr marL="1129819" indent="-260239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5pPr>
      <a:lvl6pPr marL="1739161" indent="-260239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6pPr>
      <a:lvl7pPr marL="2348500" indent="-260239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7pPr>
      <a:lvl8pPr marL="2957842" indent="-260239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8pPr>
      <a:lvl9pPr marL="3567183" indent="-260239" algn="l" rtl="0" fontAlgn="base">
        <a:spcBef>
          <a:spcPct val="20000"/>
        </a:spcBef>
        <a:spcAft>
          <a:spcPts val="1066"/>
        </a:spcAft>
        <a:buClr>
          <a:srgbClr val="999999"/>
        </a:buClr>
        <a:buChar char="-"/>
        <a:defRPr sz="1599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41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82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023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364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704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045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387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727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mailto:olga.bukhartseva@claa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742" name="Picture 6" descr="119934_2"/>
          <p:cNvPicPr>
            <a:picLocks noChangeAspect="1" noChangeArrowheads="1"/>
          </p:cNvPicPr>
          <p:nvPr/>
        </p:nvPicPr>
        <p:blipFill>
          <a:blip r:embed="rId3"/>
          <a:srcRect b="22873"/>
          <a:stretch>
            <a:fillRect/>
          </a:stretch>
        </p:blipFill>
        <p:spPr bwMode="gray">
          <a:xfrm>
            <a:off x="823" y="0"/>
            <a:ext cx="12188238" cy="3453334"/>
          </a:xfrm>
          <a:prstGeom prst="rect">
            <a:avLst/>
          </a:prstGeom>
          <a:noFill/>
        </p:spPr>
      </p:pic>
      <p:sp>
        <p:nvSpPr>
          <p:cNvPr id="5" name="Rectangle 9"/>
          <p:cNvSpPr>
            <a:spLocks noChangeArrowheads="1"/>
          </p:cNvSpPr>
          <p:nvPr/>
        </p:nvSpPr>
        <p:spPr bwMode="gray">
          <a:xfrm>
            <a:off x="303942" y="3738718"/>
            <a:ext cx="10357886" cy="122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endParaRPr lang="ru-RU" sz="2800" dirty="0"/>
          </a:p>
          <a:p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ТЕХНИЧЕСКОЕ ЗАДАНИЕ № 003:</a:t>
            </a:r>
            <a:b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разработку вспомогательного средства производства для транспортировки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 хранения  ведущего и управляемого мостов комбайна.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73" y="6334432"/>
            <a:ext cx="5345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Составлено: Группа разработки функциональных систем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CLK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61828" y="6393426"/>
            <a:ext cx="1570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23.06.202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04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784905" y="6483465"/>
            <a:ext cx="311095" cy="137873"/>
          </a:xfrm>
        </p:spPr>
        <p:txBody>
          <a:bodyPr/>
          <a:lstStyle/>
          <a:p>
            <a:fld id="{6DC34A15-BEA9-4F5B-962B-BF225681BA4E}" type="slidenum">
              <a:rPr lang="de-DE" sz="1000">
                <a:solidFill>
                  <a:schemeClr val="bg1">
                    <a:lumMod val="65000"/>
                  </a:schemeClr>
                </a:solidFill>
              </a:rPr>
              <a:pPr/>
              <a:t>2</a:t>
            </a:fld>
            <a:endParaRPr lang="de-DE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064583" y="6320533"/>
            <a:ext cx="2124478" cy="378766"/>
          </a:xfrm>
          <a:prstGeom prst="rect">
            <a:avLst/>
          </a:prstGeom>
          <a:noFill/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05181" y="221596"/>
            <a:ext cx="8282077" cy="592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Приспособление для транспортировки и хранения мостов комбайна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0" y="26903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 bwMode="auto">
          <a:xfrm>
            <a:off x="10064583" y="3059668"/>
            <a:ext cx="48138" cy="547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3"/>
          <p:cNvSpPr txBox="1">
            <a:spLocks noChangeArrowheads="1"/>
          </p:cNvSpPr>
          <p:nvPr/>
        </p:nvSpPr>
        <p:spPr bwMode="gray">
          <a:xfrm>
            <a:off x="305181" y="1172758"/>
            <a:ext cx="11287153" cy="5310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20000"/>
              </a:spcBef>
              <a:spcAft>
                <a:spcPts val="1066"/>
              </a:spcAft>
              <a:defRPr sz="186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7167" indent="-27504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Font typeface="Wingdings" pitchFamily="-112" charset="2"/>
              <a:buChar char="§"/>
              <a:defRPr sz="1866">
                <a:solidFill>
                  <a:schemeClr val="tx1"/>
                </a:solidFill>
                <a:latin typeface="+mn-lt"/>
                <a:cs typeface="+mn-cs"/>
              </a:defRPr>
            </a:lvl2pPr>
            <a:lvl3pPr marL="598763" indent="-319481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866">
                <a:solidFill>
                  <a:schemeClr val="tx1"/>
                </a:solidFill>
                <a:latin typeface="+mn-lt"/>
                <a:cs typeface="+mn-cs"/>
              </a:defRPr>
            </a:lvl3pPr>
            <a:lvl4pPr marL="867465" indent="-266587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4pPr>
            <a:lvl5pPr marL="1129819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5pPr>
            <a:lvl6pPr marL="1739161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6pPr>
            <a:lvl7pPr marL="2348500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7pPr>
            <a:lvl8pPr marL="2957842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8pPr>
            <a:lvl9pPr marL="3567183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Общие сведения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Данное техническое задание составлено с целью определения наиболее подходящей концепции вспомогательного средства производства для транспортировки и хранения ведущего и управляемого мостов комбайна.</a:t>
            </a:r>
          </a:p>
          <a:p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Область применения</a:t>
            </a:r>
          </a:p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Приспособление предназначено для транспортировки и хранения ведущего и управляемого мостов комбайна на производственных участках ООО «КЛААС».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15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концепт (3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модель) универсального и экономически выгодного приспособления для транспортировки и компактного хранения (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штабелирования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) ведущего и управляемого мостов комбайна.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Выполнить прочностной расчет несущих и ответственных элементов конструкции приспособления или дать оценку грузоподъёмности и прочности предлагаемой конструкции в сравнении с аналогичными стандартными существующими решениями;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Предложить схему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штабелирования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(например, несколько ярусов), которая отвечает критериям компактности по занимаемой площади и максимальной вместимости деталей мостов;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Учесть безопасность использования приспособления при эксплуатации. </a:t>
            </a:r>
          </a:p>
          <a:p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2048608" y="6418385"/>
            <a:ext cx="1846384" cy="20295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0000" tIns="43200" rIns="90000" bIns="43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2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784905" y="6483465"/>
            <a:ext cx="311095" cy="137873"/>
          </a:xfrm>
        </p:spPr>
        <p:txBody>
          <a:bodyPr/>
          <a:lstStyle/>
          <a:p>
            <a:fld id="{6DC34A15-BEA9-4F5B-962B-BF225681BA4E}" type="slidenum">
              <a:rPr lang="de-DE" sz="1000">
                <a:solidFill>
                  <a:schemeClr val="bg1">
                    <a:lumMod val="65000"/>
                  </a:schemeClr>
                </a:solidFill>
              </a:rPr>
              <a:pPr/>
              <a:t>3</a:t>
            </a:fld>
            <a:endParaRPr lang="de-DE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064583" y="6320533"/>
            <a:ext cx="2124478" cy="378766"/>
          </a:xfrm>
          <a:prstGeom prst="rect">
            <a:avLst/>
          </a:prstGeom>
          <a:noFill/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05181" y="221596"/>
            <a:ext cx="8282077" cy="592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Приспособление для транспортировки и хранения мостов комбайна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0" y="26903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 bwMode="auto">
          <a:xfrm>
            <a:off x="10064583" y="3059668"/>
            <a:ext cx="48138" cy="547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ectangle 3"/>
          <p:cNvSpPr txBox="1">
            <a:spLocks noChangeArrowheads="1"/>
          </p:cNvSpPr>
          <p:nvPr/>
        </p:nvSpPr>
        <p:spPr bwMode="gray">
          <a:xfrm>
            <a:off x="296875" y="981872"/>
            <a:ext cx="11287153" cy="193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20000"/>
              </a:spcBef>
              <a:spcAft>
                <a:spcPts val="1066"/>
              </a:spcAft>
              <a:defRPr sz="1866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7167" indent="-27504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Font typeface="Wingdings" pitchFamily="-112" charset="2"/>
              <a:buChar char="§"/>
              <a:defRPr sz="1866">
                <a:solidFill>
                  <a:schemeClr val="tx1"/>
                </a:solidFill>
                <a:latin typeface="+mn-lt"/>
                <a:cs typeface="+mn-cs"/>
              </a:defRPr>
            </a:lvl2pPr>
            <a:lvl3pPr marL="598763" indent="-319481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866">
                <a:solidFill>
                  <a:schemeClr val="tx1"/>
                </a:solidFill>
                <a:latin typeface="+mn-lt"/>
                <a:cs typeface="+mn-cs"/>
              </a:defRPr>
            </a:lvl3pPr>
            <a:lvl4pPr marL="867465" indent="-266587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4pPr>
            <a:lvl5pPr marL="1129819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5pPr>
            <a:lvl6pPr marL="1739161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6pPr>
            <a:lvl7pPr marL="2348500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7pPr>
            <a:lvl8pPr marL="2957842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8pPr>
            <a:lvl9pPr marL="3567183" indent="-260239" algn="l" rtl="0" fontAlgn="base">
              <a:spcBef>
                <a:spcPct val="20000"/>
              </a:spcBef>
              <a:spcAft>
                <a:spcPts val="1066"/>
              </a:spcAft>
              <a:buClr>
                <a:srgbClr val="999999"/>
              </a:buClr>
              <a:buChar char="-"/>
              <a:defRPr sz="1599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Исходные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Мост ведущий - масса 285кг;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Мост управляемый – масса 170кг;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Ширина полосы для транспортировки между производственными участками 3м;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Способ </a:t>
            </a:r>
            <a:r>
              <a:rPr lang="ru-RU" sz="1400" dirty="0" err="1">
                <a:latin typeface="Arial" panose="020B0604020202020204" pitchFamily="34" charset="0"/>
                <a:cs typeface="Arial" panose="020B0604020202020204" pitchFamily="34" charset="0"/>
              </a:rPr>
              <a:t>штабелирования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с помощью вилочного погрузчика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STILL R 70-50,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параметры погрузчика приведены ниже в таблице: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 bwMode="auto">
          <a:xfrm>
            <a:off x="2048608" y="6418385"/>
            <a:ext cx="1846384" cy="20295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0000" tIns="43200" rIns="90000" bIns="43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19" y="2922631"/>
            <a:ext cx="7737067" cy="377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0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784905" y="6483465"/>
            <a:ext cx="311095" cy="137873"/>
          </a:xfrm>
        </p:spPr>
        <p:txBody>
          <a:bodyPr/>
          <a:lstStyle/>
          <a:p>
            <a:fld id="{6DC34A15-BEA9-4F5B-962B-BF225681BA4E}" type="slidenum">
              <a:rPr lang="de-DE" sz="1000">
                <a:solidFill>
                  <a:schemeClr val="bg1">
                    <a:lumMod val="65000"/>
                  </a:schemeClr>
                </a:solidFill>
              </a:rPr>
              <a:pPr/>
              <a:t>4</a:t>
            </a:fld>
            <a:endParaRPr lang="de-DE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064583" y="6320533"/>
            <a:ext cx="2124478" cy="378766"/>
          </a:xfrm>
          <a:prstGeom prst="rect">
            <a:avLst/>
          </a:prstGeom>
          <a:noFill/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05181" y="221596"/>
            <a:ext cx="8282077" cy="592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Приспособление для транспортировки и хранения мостов комбайна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0" y="26903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 bwMode="auto">
          <a:xfrm>
            <a:off x="10064583" y="3059668"/>
            <a:ext cx="48138" cy="547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Прямоугольник 1"/>
          <p:cNvSpPr/>
          <p:nvPr/>
        </p:nvSpPr>
        <p:spPr bwMode="auto">
          <a:xfrm>
            <a:off x="2048608" y="6418385"/>
            <a:ext cx="1846384" cy="20295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0000" tIns="43200" rIns="90000" bIns="43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181" y="1198210"/>
            <a:ext cx="7975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Общий вид и габаритные размеры ведущего и управляемого мостов: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983" y="1951672"/>
            <a:ext cx="6001528" cy="36500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90541" y="5806270"/>
            <a:ext cx="240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Мост управляемый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97" y="2107773"/>
            <a:ext cx="5468750" cy="2998141"/>
          </a:xfrm>
          <a:prstGeom prst="rect">
            <a:avLst/>
          </a:prstGeom>
        </p:spPr>
      </p:pic>
      <p:cxnSp>
        <p:nvCxnSpPr>
          <p:cNvPr id="14" name="Прямая соединительная линия 13"/>
          <p:cNvCxnSpPr/>
          <p:nvPr/>
        </p:nvCxnSpPr>
        <p:spPr bwMode="auto">
          <a:xfrm>
            <a:off x="6040983" y="1951672"/>
            <a:ext cx="0" cy="403926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Прямоугольник 15"/>
          <p:cNvSpPr/>
          <p:nvPr/>
        </p:nvSpPr>
        <p:spPr>
          <a:xfrm>
            <a:off x="2048608" y="5759705"/>
            <a:ext cx="17659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Мост ведущий</a:t>
            </a:r>
          </a:p>
        </p:txBody>
      </p:sp>
    </p:spTree>
    <p:extLst>
      <p:ext uri="{BB962C8B-B14F-4D97-AF65-F5344CB8AC3E}">
        <p14:creationId xmlns:p14="http://schemas.microsoft.com/office/powerpoint/2010/main" val="348141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1"/>
          </p:nvPr>
        </p:nvSpPr>
        <p:spPr>
          <a:xfrm>
            <a:off x="5784905" y="6483465"/>
            <a:ext cx="311095" cy="137873"/>
          </a:xfrm>
        </p:spPr>
        <p:txBody>
          <a:bodyPr/>
          <a:lstStyle/>
          <a:p>
            <a:fld id="{6DC34A15-BEA9-4F5B-962B-BF225681BA4E}" type="slidenum">
              <a:rPr lang="de-DE" sz="1000">
                <a:solidFill>
                  <a:schemeClr val="bg1">
                    <a:lumMod val="65000"/>
                  </a:schemeClr>
                </a:solidFill>
              </a:rPr>
              <a:pPr/>
              <a:t>5</a:t>
            </a:fld>
            <a:endParaRPr lang="de-DE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8" name="Picture 14" descr="Claas_Logo_ne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gray">
          <a:xfrm>
            <a:off x="10064583" y="6320533"/>
            <a:ext cx="2124478" cy="378766"/>
          </a:xfrm>
          <a:prstGeom prst="rect">
            <a:avLst/>
          </a:prstGeom>
          <a:noFill/>
        </p:spPr>
      </p:pic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305181" y="221596"/>
            <a:ext cx="8282077" cy="592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Приспособление для транспортировки и хранения мостов комбайна</a:t>
            </a:r>
            <a:endParaRPr lang="de-DE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71800" y="267750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ru-RU" dirty="0">
                <a:solidFill>
                  <a:srgbClr val="000000"/>
                </a:solidFill>
              </a:rPr>
              <a:t> 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 bwMode="auto">
          <a:xfrm>
            <a:off x="10064583" y="3059668"/>
            <a:ext cx="48138" cy="547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Прямоугольник 1"/>
          <p:cNvSpPr/>
          <p:nvPr/>
        </p:nvSpPr>
        <p:spPr bwMode="auto">
          <a:xfrm>
            <a:off x="2048608" y="6418385"/>
            <a:ext cx="1846384" cy="20295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0000" tIns="43200" rIns="90000" bIns="432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5781" y="1174958"/>
            <a:ext cx="105893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sz="1600" b="1" dirty="0"/>
              <a:t>Вспомогательная информация</a:t>
            </a:r>
          </a:p>
          <a:p>
            <a:endParaRPr lang="ru-RU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3D </a:t>
            </a:r>
            <a:r>
              <a:rPr lang="ru-RU" sz="1400" dirty="0"/>
              <a:t>модель </a:t>
            </a:r>
            <a:r>
              <a:rPr lang="en-US" sz="1400" dirty="0"/>
              <a:t>(</a:t>
            </a:r>
            <a:r>
              <a:rPr lang="ru-RU" sz="1400" dirty="0"/>
              <a:t>формат </a:t>
            </a:r>
            <a:r>
              <a:rPr lang="en-US" sz="1400" dirty="0"/>
              <a:t>STEP)</a:t>
            </a:r>
            <a:r>
              <a:rPr lang="ru-RU" sz="1400" dirty="0"/>
              <a:t> имитация ведущего и управляемого мостов комбайна, предоставляется по отдельному запросу участниками конкурса через отдел персонала ООО «КЛААС»</a:t>
            </a:r>
            <a:r>
              <a:rPr lang="en-US" sz="1400" dirty="0"/>
              <a:t>.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45781" y="2322350"/>
            <a:ext cx="105893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ru-RU" sz="1600" b="1" dirty="0"/>
              <a:t>Контакты</a:t>
            </a:r>
          </a:p>
          <a:p>
            <a:endParaRPr lang="ru-RU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645781" y="2750546"/>
            <a:ext cx="619432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Семенов Вячеслав </a:t>
            </a:r>
            <a:br>
              <a:rPr lang="ru-RU" sz="1400" dirty="0"/>
            </a:br>
            <a:r>
              <a:rPr lang="ru-RU" sz="1400" dirty="0"/>
              <a:t>Группа разработки функциональных систем</a:t>
            </a:r>
          </a:p>
          <a:p>
            <a:r>
              <a:rPr lang="ru-RU" sz="1400" dirty="0"/>
              <a:t>ООО</a:t>
            </a:r>
            <a:r>
              <a:rPr lang="en-US" sz="1400" dirty="0"/>
              <a:t> "</a:t>
            </a:r>
            <a:r>
              <a:rPr lang="ru-RU" sz="1400" dirty="0"/>
              <a:t>КЛААС</a:t>
            </a:r>
            <a:r>
              <a:rPr lang="en-US" sz="1400" dirty="0"/>
              <a:t>" (</a:t>
            </a:r>
            <a:r>
              <a:rPr lang="ru-RU" sz="1400" dirty="0"/>
              <a:t>Краснодар</a:t>
            </a:r>
            <a:r>
              <a:rPr lang="en-US" sz="1400" dirty="0"/>
              <a:t>) / OOO "CLAAS" (Krasnodar)</a:t>
            </a:r>
            <a:br>
              <a:rPr lang="ru-RU" sz="1400" dirty="0"/>
            </a:br>
            <a:r>
              <a:rPr lang="ru-RU" sz="1400" dirty="0"/>
              <a:t>Проезд Мирный</a:t>
            </a:r>
            <a:r>
              <a:rPr lang="en-US" sz="1400" dirty="0"/>
              <a:t>, 16 / </a:t>
            </a:r>
            <a:r>
              <a:rPr lang="en-US" sz="1400" dirty="0" err="1"/>
              <a:t>Projezd</a:t>
            </a:r>
            <a:r>
              <a:rPr lang="en-US" sz="1400" dirty="0"/>
              <a:t> </a:t>
            </a:r>
            <a:r>
              <a:rPr lang="en-US" sz="1400" dirty="0" err="1"/>
              <a:t>Mirny</a:t>
            </a:r>
            <a:r>
              <a:rPr lang="en-US" sz="1400" dirty="0"/>
              <a:t>, 16</a:t>
            </a:r>
            <a:endParaRPr lang="ru-RU" sz="1400" dirty="0"/>
          </a:p>
          <a:p>
            <a:r>
              <a:rPr lang="en-US" sz="1400" dirty="0"/>
              <a:t>350039 </a:t>
            </a:r>
            <a:r>
              <a:rPr lang="ru-RU" sz="1400" dirty="0"/>
              <a:t>Краснодар</a:t>
            </a:r>
            <a:r>
              <a:rPr lang="en-US" sz="1400" dirty="0"/>
              <a:t> / 350039, Krasnodar</a:t>
            </a:r>
            <a:endParaRPr lang="ru-RU" sz="1400" dirty="0"/>
          </a:p>
          <a:p>
            <a:r>
              <a:rPr lang="ru-RU" sz="1400" dirty="0"/>
              <a:t>Российская Федерация/ </a:t>
            </a:r>
            <a:r>
              <a:rPr lang="ru-RU" sz="1400" dirty="0" err="1"/>
              <a:t>Russishe</a:t>
            </a:r>
            <a:r>
              <a:rPr lang="ru-RU" sz="1400" dirty="0"/>
              <a:t> </a:t>
            </a:r>
            <a:r>
              <a:rPr lang="ru-RU" sz="1400" dirty="0" err="1"/>
              <a:t>Förderation</a:t>
            </a:r>
            <a:endParaRPr lang="ru-RU" sz="1400" dirty="0"/>
          </a:p>
          <a:p>
            <a:r>
              <a:rPr lang="ru-RU" sz="1400" dirty="0"/>
              <a:t> </a:t>
            </a:r>
          </a:p>
          <a:p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тел. +7 861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r>
              <a:rPr lang="ru-RU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214-10-22 (69-631)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dirty="0">
                <a:hlinkClick r:id="rId4"/>
              </a:rPr>
              <a:t>viacheslav.semenov@claas-krasnodar.ru 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1150664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E27036"/>
      </a:dk2>
      <a:lt2>
        <a:srgbClr val="666666"/>
      </a:lt2>
      <a:accent1>
        <a:srgbClr val="D4D4D4"/>
      </a:accent1>
      <a:accent2>
        <a:srgbClr val="B3C618"/>
      </a:accent2>
      <a:accent3>
        <a:srgbClr val="FFFFFF"/>
      </a:accent3>
      <a:accent4>
        <a:srgbClr val="000000"/>
      </a:accent4>
      <a:accent5>
        <a:srgbClr val="E6E6E6"/>
      </a:accent5>
      <a:accent6>
        <a:srgbClr val="A2B315"/>
      </a:accent6>
      <a:hlink>
        <a:srgbClr val="999999"/>
      </a:hlink>
      <a:folHlink>
        <a:srgbClr val="778410"/>
      </a:folHlink>
    </a:clrScheme>
    <a:fontScheme name="Standard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3200" rIns="90000" bIns="432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3200" rIns="90000" bIns="432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E27036"/>
        </a:dk2>
        <a:lt2>
          <a:srgbClr val="666666"/>
        </a:lt2>
        <a:accent1>
          <a:srgbClr val="D4D4D4"/>
        </a:accent1>
        <a:accent2>
          <a:srgbClr val="B3C618"/>
        </a:accent2>
        <a:accent3>
          <a:srgbClr val="FFFFFF"/>
        </a:accent3>
        <a:accent4>
          <a:srgbClr val="000000"/>
        </a:accent4>
        <a:accent5>
          <a:srgbClr val="E6E6E6"/>
        </a:accent5>
        <a:accent6>
          <a:srgbClr val="A2B315"/>
        </a:accent6>
        <a:hlink>
          <a:srgbClr val="999999"/>
        </a:hlink>
        <a:folHlink>
          <a:srgbClr val="77841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349</Words>
  <Application>Microsoft Office PowerPoint</Application>
  <PresentationFormat>Широкоэкранный</PresentationFormat>
  <Paragraphs>51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Тема Office</vt:lpstr>
      <vt:lpstr>Standarddesign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CLAAS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Garmashov, Evgeniy</dc:creator>
  <cp:lastModifiedBy>Semenov, Viacheslav</cp:lastModifiedBy>
  <cp:revision>164</cp:revision>
  <dcterms:created xsi:type="dcterms:W3CDTF">2014-11-17T10:06:54Z</dcterms:created>
  <dcterms:modified xsi:type="dcterms:W3CDTF">2026-03-05T04:43:38Z</dcterms:modified>
</cp:coreProperties>
</file>